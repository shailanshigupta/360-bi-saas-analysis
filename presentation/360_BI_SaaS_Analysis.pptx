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43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16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440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yourself. 5-pillar BI project simulating a real BA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4 problems are connected — attrition causes service failures, which causes churn, which causes revenue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pillar answers a specific business question. Tools chosen match what real BA teams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6 numbers are the headline. Each one maps to a pillar.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Workforce is the root cause. Fix this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is growing, but concentrated. Diversification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Churn is solvable — it's a contract structure problem, not a product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EDA was critical here. Missing data would have skewed all category-level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Class finding is the most surprising. It points to a systemic process failure that is actively damaging customer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this live if possible. Viewers can filter and explore the data themselves from the public 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recommendation has a specific, quantified outcome. This is what separates a BA from a data analyst.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confidently. This project proves you can do the job — not just talk about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463040"/>
            <a:ext cx="4754880" cy="4754880"/>
          </a:xfrm>
          <a:prstGeom prst="ellipse">
            <a:avLst/>
          </a:prstGeom>
          <a:solidFill>
            <a:srgbClr val="0F1733">
              <a:alpha val="80000"/>
            </a:srgbClr>
          </a:solidFill>
          <a:ln w="12700">
            <a:solidFill>
              <a:srgbClr val="0F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-822960"/>
            <a:ext cx="3291840" cy="3291840"/>
          </a:xfrm>
          <a:prstGeom prst="ellipse">
            <a:avLst/>
          </a:prstGeom>
          <a:solidFill>
            <a:srgbClr val="4FC3F7">
              <a:alpha val="32000"/>
            </a:srgbClr>
          </a:solidFill>
          <a:ln w="12700">
            <a:solidFill>
              <a:srgbClr val="4FC3F7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360° Business Intelligence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SaaS Company Health Analysis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02920" y="2816352"/>
            <a:ext cx="4114800" cy="0"/>
          </a:xfrm>
          <a:prstGeom prst="line">
            <a:avLst/>
          </a:prstGeom>
          <a:noFill/>
          <a:ln w="19050">
            <a:solidFill>
              <a:srgbClr val="4FC3F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9443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Shailanshi Gupta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32918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Business Analytics  ·  Northeastern University  ·  December 2026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767328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26337A"/>
          </a:solidFill>
          <a:ln w="12700">
            <a:solidFill>
              <a:srgbClr val="4FC3F7">
                <a:alpha val="5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3767328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67128" y="3767328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26337A"/>
          </a:solidFill>
          <a:ln w="12700">
            <a:solidFill>
              <a:srgbClr val="4FC3F7">
                <a:alpha val="5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67128" y="3767328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31336" y="3767328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26337A"/>
          </a:solidFill>
          <a:ln w="12700">
            <a:solidFill>
              <a:srgbClr val="4FC3F7">
                <a:alpha val="5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31336" y="3767328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95544" y="3767328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26337A"/>
          </a:solidFill>
          <a:ln w="12700">
            <a:solidFill>
              <a:srgbClr val="4FC3F7">
                <a:alpha val="5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95544" y="3767328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59752" y="3767328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26337A"/>
          </a:solidFill>
          <a:ln w="12700">
            <a:solidFill>
              <a:srgbClr val="4FC3F7">
                <a:alpha val="5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59752" y="3767328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709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·  Python  ·  Power BI  ·  Tableau  ·  PowerPoint  ·  Word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mid-sized SaaS company hired a Business Analyst after flagging simultaneous crises across every department. The brief: find out what's broken, why it's connected, and what to do about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4114800" cy="1481328"/>
          </a:xfrm>
          <a:prstGeom prst="roundRect">
            <a:avLst>
              <a:gd name="adj" fmla="val 7407"/>
            </a:avLst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Workforce is Bleeding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93852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 annual attrition. Sales losing 1 in 5 employees per year. Overtime workers leaving at 3× the rate. The team is exhausted and understaffed.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36592" y="1463040"/>
            <a:ext cx="4114800" cy="1481328"/>
          </a:xfrm>
          <a:prstGeom prst="roundRect">
            <a:avLst>
              <a:gd name="adj" fmla="val 7407"/>
            </a:avLst>
          </a:prstGeom>
          <a:solidFill>
            <a:srgbClr val="FCE4E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19472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Revenue is Leaking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19472" y="193852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$139K lost every month to churned customers. Month-to-month contract customers churn at 42.7% - nearly half won't renew. Retention is broken.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090672"/>
            <a:ext cx="4114800" cy="1481328"/>
          </a:xfrm>
          <a:prstGeom prst="roundRect">
            <a:avLst>
              <a:gd name="adj" fmla="val 7407"/>
            </a:avLst>
          </a:prstGeom>
          <a:solidFill>
            <a:srgbClr val="E8F5E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1821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Operations are Failing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54.8% of all orders arrive late. First Class shipping - the most expensive option - has a 95% late delivery rate. Customers are paying more and getting worse service.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36592" y="3090672"/>
            <a:ext cx="4114800" cy="1481328"/>
          </a:xfrm>
          <a:prstGeom prst="roundRect">
            <a:avLst>
              <a:gd name="adj" fmla="val 7407"/>
            </a:avLst>
          </a:prstGeom>
          <a:solidFill>
            <a:srgbClr val="E3F2F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19472" y="31821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No Unified Visibility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19472" y="356616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in silos across HR, Sales, Customer Success and Supply Chain. Leadership is making decisions without a complete picture. That ends here.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Solved 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datasets · 5 analytical pillars · 6 tools · 10 days of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4572000" cy="365760"/>
          </a:xfrm>
          <a:prstGeom prst="roundRect">
            <a:avLst>
              <a:gd name="adj" fmla="val 12500"/>
            </a:avLst>
          </a:prstGeom>
          <a:solidFill>
            <a:srgbClr val="4FC3F7">
              <a:alpha val="85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&amp; Business Question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74920" y="1170432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4FC3F7">
              <a:alpha val="85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74920" y="1170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040880" y="1170432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4FC3F7">
              <a:alpha val="85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40880" y="1170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645920"/>
            <a:ext cx="8503920" cy="566928"/>
          </a:xfrm>
          <a:prstGeom prst="roundRect">
            <a:avLst>
              <a:gd name="adj" fmla="val 9677"/>
            </a:avLst>
          </a:prstGeom>
          <a:solidFill>
            <a:srgbClr val="26337A"/>
          </a:solidFill>
          <a:ln w="12700">
            <a:solidFill>
              <a:srgbClr val="CADCFC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645920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 -  Why are our best employees leaving?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4920" y="164592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Attrition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95160" y="164592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Python · Power BI · Tableau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8503920" cy="566928"/>
          </a:xfrm>
          <a:prstGeom prst="roundRect">
            <a:avLst>
              <a:gd name="adj" fmla="val 9677"/>
            </a:avLst>
          </a:prstGeom>
          <a:solidFill>
            <a:srgbClr val="0F1733"/>
          </a:solidFill>
          <a:ln w="12700">
            <a:solidFill>
              <a:srgbClr val="CADCFC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286000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 -  Where is growth happening and where isn't it?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228600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995160" y="228600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Power BI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8503920" cy="566928"/>
          </a:xfrm>
          <a:prstGeom prst="roundRect">
            <a:avLst>
              <a:gd name="adj" fmla="val 9677"/>
            </a:avLst>
          </a:prstGeom>
          <a:solidFill>
            <a:srgbClr val="26337A"/>
          </a:solidFill>
          <a:ln w="12700">
            <a:solidFill>
              <a:srgbClr val="CADCFC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926080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 -  Who is about to cancel and why?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292608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95160" y="292608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Python ML · Power BI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8503920" cy="566928"/>
          </a:xfrm>
          <a:prstGeom prst="roundRect">
            <a:avLst>
              <a:gd name="adj" fmla="val 9677"/>
            </a:avLst>
          </a:prstGeom>
          <a:solidFill>
            <a:srgbClr val="0F1733"/>
          </a:solidFill>
          <a:ln w="12700">
            <a:solidFill>
              <a:srgbClr val="CADCFC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566160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 -  Which products and categories drive value?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4920" y="356616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95160" y="356616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 · Power BI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206240"/>
            <a:ext cx="8503920" cy="566928"/>
          </a:xfrm>
          <a:prstGeom prst="roundRect">
            <a:avLst>
              <a:gd name="adj" fmla="val 9677"/>
            </a:avLst>
          </a:prstGeom>
          <a:solidFill>
            <a:srgbClr val="26337A"/>
          </a:solidFill>
          <a:ln w="12700">
            <a:solidFill>
              <a:srgbClr val="CADCFC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4206240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 -  Where are our biggest process failures?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74920" y="420624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 Supply Chain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95160" y="420624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Power BI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numbers that define this company's health - and where to focus first.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47472" y="1078992"/>
            <a:ext cx="2633472" cy="1810512"/>
          </a:xfrm>
          <a:prstGeom prst="roundRect">
            <a:avLst>
              <a:gd name="adj" fmla="val 7071"/>
            </a:avLst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121615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9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47472" y="201168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237744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 of 1,470 employees left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18688" y="1078992"/>
            <a:ext cx="2633472" cy="1810512"/>
          </a:xfrm>
          <a:prstGeom prst="roundRect">
            <a:avLst>
              <a:gd name="adj" fmla="val 7071"/>
            </a:avLst>
          </a:prstGeom>
          <a:solidFill>
            <a:srgbClr val="FCE4E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18688" y="121615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F5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18688" y="201168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Rate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18688" y="237744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1,869 of 7,043 customers lost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9904" y="1078992"/>
            <a:ext cx="2633472" cy="1810512"/>
          </a:xfrm>
          <a:prstGeom prst="roundRect">
            <a:avLst>
              <a:gd name="adj" fmla="val 7071"/>
            </a:avLst>
          </a:prstGeom>
          <a:solidFill>
            <a:srgbClr val="EDE7F6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89904" y="121615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7E57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$139K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089904" y="201168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 Per Month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89904" y="237744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from churned customers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072384"/>
            <a:ext cx="2633472" cy="1810512"/>
          </a:xfrm>
          <a:prstGeom prst="roundRect">
            <a:avLst>
              <a:gd name="adj" fmla="val 7071"/>
            </a:avLst>
          </a:prstGeom>
          <a:solidFill>
            <a:srgbClr val="E8F5E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" y="3209544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88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54.8%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347472" y="40050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Arrive Late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" y="437083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half of all deliveries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18688" y="3072384"/>
            <a:ext cx="2633472" cy="1810512"/>
          </a:xfrm>
          <a:prstGeom prst="roundRect">
            <a:avLst>
              <a:gd name="adj" fmla="val 7071"/>
            </a:avLst>
          </a:prstGeom>
          <a:solidFill>
            <a:srgbClr val="FBE9E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18688" y="3209544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F5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39.8%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3218688" y="40050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 Attrition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18688" y="437083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Highest-risk role in the company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9904" y="3072384"/>
            <a:ext cx="2633472" cy="1810512"/>
          </a:xfrm>
          <a:prstGeom prst="roundRect">
            <a:avLst>
              <a:gd name="adj" fmla="val 7071"/>
            </a:avLst>
          </a:prstGeom>
          <a:solidFill>
            <a:srgbClr val="E0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89904" y="3209544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97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~80%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6089904" y="40050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Churn Model Accuracy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89904" y="437083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oundRect">
            <a:avLst/>
          </a:prstGeom>
          <a:solidFill>
            <a:srgbClr val="0F1733"/>
          </a:solidFill>
          <a:ln w="12700">
            <a:solidFill>
              <a:srgbClr val="0F17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3657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 ·  WORKFORCE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IBM HR Attrition  ·  Tools: SQL · Python · Power BI · Tableau</a:t>
            </a:r>
            <a:endParaRPr lang="en-US" sz="1100" dirty="0"/>
          </a:p>
        </p:txBody>
      </p:sp>
      <p:pic>
        <p:nvPicPr>
          <p:cNvPr id="5" name="Image 0" descr="/mnt/user-data/uploads/Screenshot_2026-06-11_at_1_58_04_PM_1_59_33_PM_co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51187"/>
            <a:ext cx="5486400" cy="324612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989320" y="868680"/>
            <a:ext cx="2834640" cy="804672"/>
          </a:xfrm>
          <a:prstGeom prst="roundRect">
            <a:avLst>
              <a:gd name="adj" fmla="val 10227"/>
            </a:avLst>
          </a:prstGeom>
          <a:solidFill>
            <a:srgbClr val="26337A"/>
          </a:solidFill>
          <a:ln w="12700">
            <a:solidFill>
              <a:srgbClr val="CADCFC">
                <a:alpha val="3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89320" y="941832"/>
            <a:ext cx="28346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5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20.6%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989320" y="1327343"/>
            <a:ext cx="283464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Dept Attrition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89320" y="1755648"/>
            <a:ext cx="2834640" cy="804672"/>
          </a:xfrm>
          <a:prstGeom prst="roundRect">
            <a:avLst>
              <a:gd name="adj" fmla="val 10227"/>
            </a:avLst>
          </a:prstGeom>
          <a:solidFill>
            <a:srgbClr val="26337A"/>
          </a:solidFill>
          <a:ln w="12700">
            <a:solidFill>
              <a:srgbClr val="CADCFC">
                <a:alpha val="3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89320" y="1828800"/>
            <a:ext cx="28346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D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989320" y="2214311"/>
            <a:ext cx="283464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Quit Risk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89320" y="2642616"/>
            <a:ext cx="2834640" cy="804672"/>
          </a:xfrm>
          <a:prstGeom prst="roundRect">
            <a:avLst>
              <a:gd name="adj" fmla="val 10227"/>
            </a:avLst>
          </a:prstGeom>
          <a:solidFill>
            <a:srgbClr val="26337A"/>
          </a:solidFill>
          <a:ln w="12700">
            <a:solidFill>
              <a:srgbClr val="CADCFC">
                <a:alpha val="3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89320" y="2715768"/>
            <a:ext cx="28346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$2K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5989320" y="3101279"/>
            <a:ext cx="283464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Salary Gap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89320" y="3529584"/>
            <a:ext cx="2834640" cy="804672"/>
          </a:xfrm>
          <a:prstGeom prst="roundRect">
            <a:avLst>
              <a:gd name="adj" fmla="val 10227"/>
            </a:avLst>
          </a:prstGeom>
          <a:solidFill>
            <a:srgbClr val="26337A"/>
          </a:solidFill>
          <a:ln w="12700">
            <a:solidFill>
              <a:srgbClr val="CADCFC">
                <a:alpha val="3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89320" y="3602736"/>
            <a:ext cx="28346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6BB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82.9%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5989320" y="3988247"/>
            <a:ext cx="283464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Attrition Model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03196" y="4468307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26337A"/>
          </a:solidFill>
          <a:ln w="12700">
            <a:solidFill>
              <a:srgbClr val="FFD54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36884" y="4482023"/>
            <a:ext cx="83210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Sales employees earning $2K/month less than peers who stay - a targeted pay adjustment is cheaper than the cost of replacing them.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3657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 ·  REVENUE &amp; SALES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Superstore Sales  ·  Tools: SQL · Power BI</a:t>
            </a:r>
            <a:endParaRPr lang="en-US" sz="1100" dirty="0"/>
          </a:p>
        </p:txBody>
      </p:sp>
      <p:pic>
        <p:nvPicPr>
          <p:cNvPr id="5" name="Image 0" descr="/mnt/user-data/uploads/Screenshot_2026-06-11_at_2_25_44_PM_co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41248"/>
            <a:ext cx="5486400" cy="324612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989320" y="868680"/>
            <a:ext cx="2834640" cy="804672"/>
          </a:xfrm>
          <a:prstGeom prst="roundRect">
            <a:avLst>
              <a:gd name="adj" fmla="val 11364"/>
            </a:avLst>
          </a:prstGeom>
          <a:solidFill>
            <a:srgbClr val="E8EAF6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89320" y="941832"/>
            <a:ext cx="28346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$2.3M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989320" y="1327343"/>
            <a:ext cx="283464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89320" y="1755648"/>
            <a:ext cx="2834640" cy="804672"/>
          </a:xfrm>
          <a:prstGeom prst="roundRect">
            <a:avLst>
              <a:gd name="adj" fmla="val 11364"/>
            </a:avLst>
          </a:prstGeom>
          <a:solidFill>
            <a:srgbClr val="EDE7F6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89320" y="1828800"/>
            <a:ext cx="28346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C6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989320" y="2214311"/>
            <a:ext cx="283464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Region ($0.71M)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89320" y="2642616"/>
            <a:ext cx="2834640" cy="804672"/>
          </a:xfrm>
          <a:prstGeom prst="roundRect">
            <a:avLst>
              <a:gd name="adj" fmla="val 11364"/>
            </a:avLst>
          </a:prstGeom>
          <a:solidFill>
            <a:srgbClr val="E8F5E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89320" y="2715768"/>
            <a:ext cx="28346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88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5989320" y="3101279"/>
            <a:ext cx="283464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Profit Cat.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89320" y="3529584"/>
            <a:ext cx="2834640" cy="804672"/>
          </a:xfrm>
          <a:prstGeom prst="roundRect">
            <a:avLst>
              <a:gd name="adj" fmla="val 11364"/>
            </a:avLst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89320" y="3602736"/>
            <a:ext cx="28346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9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+40%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5989320" y="3988247"/>
            <a:ext cx="283464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2016–18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2446" y="452628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BFDBF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17634" y="4553231"/>
            <a:ext cx="85039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Technology drives the highest profit margin despite not being the top revenue category - reallocating marketing budget here has the highest ROI.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oundRect">
            <a:avLst/>
          </a:prstGeom>
          <a:solidFill>
            <a:srgbClr val="0F1733"/>
          </a:solidFill>
          <a:ln w="12700">
            <a:solidFill>
              <a:srgbClr val="0F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3657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 ·  CUSTOMER CHURN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Telco Customer Churn  ·  Tools: SQL · Python (Logistic Regression) · Power BI</a:t>
            </a:r>
            <a:endParaRPr lang="en-US" sz="1100" dirty="0"/>
          </a:p>
        </p:txBody>
      </p:sp>
      <p:pic>
        <p:nvPicPr>
          <p:cNvPr id="5" name="Image 0" descr="/mnt/user-data/uploads/Screenshot_2026-06-11_at_3_03_59_PM_co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41248"/>
            <a:ext cx="5486400" cy="324612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989320" y="868680"/>
            <a:ext cx="2834640" cy="804672"/>
          </a:xfrm>
          <a:prstGeom prst="roundRect">
            <a:avLst>
              <a:gd name="adj" fmla="val 10227"/>
            </a:avLst>
          </a:prstGeom>
          <a:solidFill>
            <a:srgbClr val="26337A"/>
          </a:solidFill>
          <a:ln w="12700">
            <a:solidFill>
              <a:srgbClr val="CADCFC">
                <a:alpha val="3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89320" y="941832"/>
            <a:ext cx="28346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5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989320" y="1327343"/>
            <a:ext cx="283464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89320" y="1755648"/>
            <a:ext cx="2834640" cy="804672"/>
          </a:xfrm>
          <a:prstGeom prst="roundRect">
            <a:avLst>
              <a:gd name="adj" fmla="val 10227"/>
            </a:avLst>
          </a:prstGeom>
          <a:solidFill>
            <a:srgbClr val="26337A"/>
          </a:solidFill>
          <a:ln w="12700">
            <a:solidFill>
              <a:srgbClr val="CADCFC">
                <a:alpha val="3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89320" y="1828800"/>
            <a:ext cx="28346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9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42.7%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989320" y="2214311"/>
            <a:ext cx="283464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Churn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89320" y="2642616"/>
            <a:ext cx="2834640" cy="804672"/>
          </a:xfrm>
          <a:prstGeom prst="roundRect">
            <a:avLst>
              <a:gd name="adj" fmla="val 10227"/>
            </a:avLst>
          </a:prstGeom>
          <a:solidFill>
            <a:srgbClr val="26337A"/>
          </a:solidFill>
          <a:ln w="12700">
            <a:solidFill>
              <a:srgbClr val="CADCFC">
                <a:alpha val="3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89320" y="2715768"/>
            <a:ext cx="28346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6BB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11.3%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5989320" y="3101279"/>
            <a:ext cx="283464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2-Year Contract Churn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89320" y="3529584"/>
            <a:ext cx="2834640" cy="804672"/>
          </a:xfrm>
          <a:prstGeom prst="roundRect">
            <a:avLst>
              <a:gd name="adj" fmla="val 10227"/>
            </a:avLst>
          </a:prstGeom>
          <a:solidFill>
            <a:srgbClr val="26337A"/>
          </a:solidFill>
          <a:ln w="12700">
            <a:solidFill>
              <a:srgbClr val="CADCFC">
                <a:alpha val="3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89320" y="3602736"/>
            <a:ext cx="28346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~80%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5989320" y="3988247"/>
            <a:ext cx="283464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Accuracy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0040" y="4427891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26337A"/>
          </a:solidFill>
          <a:ln w="12700">
            <a:solidFill>
              <a:srgbClr val="FFD54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20040" y="4468125"/>
            <a:ext cx="83210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Contract type is the single biggest churn predictor. Converting month-to-month customers to annual contracts could recover over $100K/month in revenue.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3657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  ·  PRODUCT &amp; E-COMMERCE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Olist E-Commerce (Brazil)  ·  Tools: Python EDA · Power BI</a:t>
            </a:r>
            <a:endParaRPr lang="en-US" sz="1100" dirty="0"/>
          </a:p>
        </p:txBody>
      </p:sp>
      <p:pic>
        <p:nvPicPr>
          <p:cNvPr id="5" name="Image 0" descr="/mnt/user-data/uploads/Screenshot_2026-06-11_at_3_34_41_PM_co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41248"/>
            <a:ext cx="5486400" cy="324612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989320" y="868680"/>
            <a:ext cx="2834640" cy="804672"/>
          </a:xfrm>
          <a:prstGeom prst="roundRect">
            <a:avLst>
              <a:gd name="adj" fmla="val 11364"/>
            </a:avLst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89320" y="941832"/>
            <a:ext cx="28346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9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4.1★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989320" y="1327343"/>
            <a:ext cx="283464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Customer Rating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89320" y="1755648"/>
            <a:ext cx="2834640" cy="804672"/>
          </a:xfrm>
          <a:prstGeom prst="roundRect">
            <a:avLst>
              <a:gd name="adj" fmla="val 11364"/>
            </a:avLst>
          </a:prstGeom>
          <a:solidFill>
            <a:srgbClr val="E8EAF6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89320" y="1828800"/>
            <a:ext cx="28346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C6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180K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989320" y="2214311"/>
            <a:ext cx="283464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Analyzed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89320" y="2642616"/>
            <a:ext cx="2834640" cy="804672"/>
          </a:xfrm>
          <a:prstGeom prst="roundRect">
            <a:avLst>
              <a:gd name="adj" fmla="val 11364"/>
            </a:avLst>
          </a:prstGeom>
          <a:solidFill>
            <a:srgbClr val="E8F5E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89320" y="2715768"/>
            <a:ext cx="28346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88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610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5989320" y="3101279"/>
            <a:ext cx="283464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Cleaned (Python)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89320" y="3529584"/>
            <a:ext cx="2834640" cy="804672"/>
          </a:xfrm>
          <a:prstGeom prst="roundRect">
            <a:avLst>
              <a:gd name="adj" fmla="val 11364"/>
            </a:avLst>
          </a:prstGeom>
          <a:solidFill>
            <a:srgbClr val="FCE4E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89320" y="3602736"/>
            <a:ext cx="28346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5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5989320" y="3988247"/>
            <a:ext cx="283464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Category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0040" y="446566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BFDBF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20040" y="4492871"/>
            <a:ext cx="83210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Health &amp; Beauty drove top revenue. Python data cleaning fixed 610 missing product category names - without this, 8% of the analysis would have been wrong.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oundRect">
            <a:avLst/>
          </a:prstGeom>
          <a:solidFill>
            <a:srgbClr val="0F1733"/>
          </a:solidFill>
          <a:ln w="12700">
            <a:solidFill>
              <a:srgbClr val="0F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3657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5  ·  OPERATIONAL EFFICIENCY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DataCo Supply Chain  ·  Tools: SQL · Power BI</a:t>
            </a:r>
            <a:endParaRPr lang="en-US" sz="1100" dirty="0"/>
          </a:p>
        </p:txBody>
      </p:sp>
      <p:pic>
        <p:nvPicPr>
          <p:cNvPr id="5" name="Image 0" descr="/mnt/user-data/uploads/Screenshot_2026-06-11_at_2_47_56_PM_co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41248"/>
            <a:ext cx="5486400" cy="324612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989320" y="868680"/>
            <a:ext cx="2834640" cy="804672"/>
          </a:xfrm>
          <a:prstGeom prst="roundRect">
            <a:avLst>
              <a:gd name="adj" fmla="val 10227"/>
            </a:avLst>
          </a:prstGeom>
          <a:solidFill>
            <a:srgbClr val="26337A"/>
          </a:solidFill>
          <a:ln w="12700">
            <a:solidFill>
              <a:srgbClr val="CADCFC">
                <a:alpha val="3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89320" y="941832"/>
            <a:ext cx="28346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5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54.8%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989320" y="1327343"/>
            <a:ext cx="283464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Late Rate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89320" y="1755648"/>
            <a:ext cx="2834640" cy="804672"/>
          </a:xfrm>
          <a:prstGeom prst="roundRect">
            <a:avLst>
              <a:gd name="adj" fmla="val 10227"/>
            </a:avLst>
          </a:prstGeom>
          <a:solidFill>
            <a:srgbClr val="26337A"/>
          </a:solidFill>
          <a:ln w="12700">
            <a:solidFill>
              <a:srgbClr val="CADCFC">
                <a:alpha val="3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89320" y="1828800"/>
            <a:ext cx="28346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989320" y="2214311"/>
            <a:ext cx="283464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Class Late (!!!)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89320" y="2642616"/>
            <a:ext cx="2834640" cy="804672"/>
          </a:xfrm>
          <a:prstGeom prst="roundRect">
            <a:avLst>
              <a:gd name="adj" fmla="val 10227"/>
            </a:avLst>
          </a:prstGeom>
          <a:solidFill>
            <a:srgbClr val="26337A"/>
          </a:solidFill>
          <a:ln w="12700">
            <a:solidFill>
              <a:srgbClr val="CADCFC">
                <a:alpha val="3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89320" y="2715768"/>
            <a:ext cx="28346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6BB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5989320" y="3101279"/>
            <a:ext cx="283464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 Late (Best)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89320" y="3529584"/>
            <a:ext cx="2834640" cy="804672"/>
          </a:xfrm>
          <a:prstGeom prst="roundRect">
            <a:avLst>
              <a:gd name="adj" fmla="val 10227"/>
            </a:avLst>
          </a:prstGeom>
          <a:solidFill>
            <a:srgbClr val="26337A"/>
          </a:solidFill>
          <a:ln w="12700">
            <a:solidFill>
              <a:srgbClr val="CADCFC">
                <a:alpha val="3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89320" y="3602736"/>
            <a:ext cx="28346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D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$158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5989320" y="3988247"/>
            <a:ext cx="283464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Profit: Computers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0040" y="443434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26337A"/>
          </a:solidFill>
          <a:ln w="12700">
            <a:solidFill>
              <a:srgbClr val="FFD54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20040" y="4474025"/>
            <a:ext cx="83210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First Class costs the most and delivers the worst - 95% late rate. This is a routing or process failure, not a capacity issue. Needs immediate root cause investigation.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Tableau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Tableau Public · Live &amp; interactive · Fully filterable by department, age group, and job role</a:t>
            </a:r>
            <a:endParaRPr lang="en-US" sz="1150" dirty="0"/>
          </a:p>
        </p:txBody>
      </p:sp>
      <p:pic>
        <p:nvPicPr>
          <p:cNvPr id="4" name="Image 0" descr="/mnt/user-data/uploads/Screenshot_2026-06-16_at_5_23_20_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87552"/>
            <a:ext cx="8503920" cy="3730752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320040" y="4773168"/>
            <a:ext cx="850392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20040" y="47731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public.tableau.com/app/profile/shailanshi.gupta/viz/360BIAttritionAnalysis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data-backed actions that directly address the root causes identified across all 5 pillars.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47472" y="1078992"/>
            <a:ext cx="8458200" cy="859536"/>
          </a:xfrm>
          <a:prstGeom prst="roundRect">
            <a:avLst>
              <a:gd name="adj" fmla="val 9574"/>
            </a:avLst>
          </a:prstGeom>
          <a:solidFill>
            <a:srgbClr val="26337A"/>
          </a:solidFill>
          <a:ln w="12700">
            <a:solidFill>
              <a:srgbClr val="CADCFC">
                <a:alpha val="28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3192" y="1170432"/>
            <a:ext cx="566928" cy="676656"/>
          </a:xfrm>
          <a:prstGeom prst="roundRect">
            <a:avLst>
              <a:gd name="adj" fmla="val 9677"/>
            </a:avLst>
          </a:prstGeom>
          <a:solidFill>
            <a:srgbClr val="4FC3F7">
              <a:alpha val="85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3192" y="1170432"/>
            <a:ext cx="566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78992" y="1207008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8992" y="1207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· IMMEDIATE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23160" y="1133856"/>
            <a:ext cx="6263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salary review and reduce overtime in Sales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423160" y="1481328"/>
            <a:ext cx="6263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shows a $2K/month gap and 3× higher quit rate for overtime workers. A targeted pay adjustment + workload redistribution will reduce 20.6% attrition below 12% within 12 months - cheaper than the $50K average cost of replacing each employee.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2039112"/>
            <a:ext cx="8458200" cy="859536"/>
          </a:xfrm>
          <a:prstGeom prst="roundRect">
            <a:avLst>
              <a:gd name="adj" fmla="val 9574"/>
            </a:avLst>
          </a:prstGeom>
          <a:solidFill>
            <a:srgbClr val="26337A"/>
          </a:solidFill>
          <a:ln w="12700">
            <a:solidFill>
              <a:srgbClr val="CADCFC">
                <a:alpha val="28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93192" y="2130552"/>
            <a:ext cx="566928" cy="676656"/>
          </a:xfrm>
          <a:prstGeom prst="roundRect">
            <a:avLst>
              <a:gd name="adj" fmla="val 9677"/>
            </a:avLst>
          </a:prstGeom>
          <a:solidFill>
            <a:srgbClr val="4FC3F7">
              <a:alpha val="85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3192" y="2130552"/>
            <a:ext cx="566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8992" y="2167128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FCE4E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78992" y="21671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· HIGH IMPACT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423160" y="2093976"/>
            <a:ext cx="6263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an annual contract conversion campaign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423160" y="2441448"/>
            <a:ext cx="6263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at 42.7% vs 11.3% on 2-year contracts. Offering a 10% discount for annual upgrades to the at-risk segment (identified by our ML model) could recover $80-100K in monthly recurring revenue.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999232"/>
            <a:ext cx="8458200" cy="859536"/>
          </a:xfrm>
          <a:prstGeom prst="roundRect">
            <a:avLst>
              <a:gd name="adj" fmla="val 9574"/>
            </a:avLst>
          </a:prstGeom>
          <a:solidFill>
            <a:srgbClr val="26337A"/>
          </a:solidFill>
          <a:ln w="12700">
            <a:solidFill>
              <a:srgbClr val="CADCFC">
                <a:alpha val="28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93192" y="3090672"/>
            <a:ext cx="566928" cy="676656"/>
          </a:xfrm>
          <a:prstGeom prst="roundRect">
            <a:avLst>
              <a:gd name="adj" fmla="val 9677"/>
            </a:avLst>
          </a:prstGeom>
          <a:solidFill>
            <a:srgbClr val="4FC3F7">
              <a:alpha val="85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3192" y="3090672"/>
            <a:ext cx="566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78992" y="3127248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78992" y="31272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· URGENT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23160" y="3054096"/>
            <a:ext cx="6263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and fix First Class shipping routing immediately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423160" y="3401568"/>
            <a:ext cx="6263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late delivery rate on the most expensive shipping tier is not a capacity problem - it's a routing or vendor failure. A process audit with carrier SLA enforcement will improve customer satisfaction scores and reduce refund costs.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" y="3959352"/>
            <a:ext cx="8458200" cy="859536"/>
          </a:xfrm>
          <a:prstGeom prst="roundRect">
            <a:avLst>
              <a:gd name="adj" fmla="val 9574"/>
            </a:avLst>
          </a:prstGeom>
          <a:solidFill>
            <a:srgbClr val="26337A"/>
          </a:solidFill>
          <a:ln w="12700">
            <a:solidFill>
              <a:srgbClr val="CADCFC">
                <a:alpha val="28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93192" y="4050792"/>
            <a:ext cx="566928" cy="676656"/>
          </a:xfrm>
          <a:prstGeom prst="roundRect">
            <a:avLst>
              <a:gd name="adj" fmla="val 9677"/>
            </a:avLst>
          </a:prstGeom>
          <a:solidFill>
            <a:srgbClr val="4FC3F7">
              <a:alpha val="85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93192" y="4050792"/>
            <a:ext cx="566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78992" y="4087368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78992" y="40873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· GROWTH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423160" y="4014216"/>
            <a:ext cx="6263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Technology category and West region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423160" y="4361688"/>
            <a:ext cx="6263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delivers the highest profit margin. West region leads revenue at $0.71M. Reallocating 20% of marketing budget from Furniture (low margin) to Technology and West-focused campaigns is projected to increase overall profitability by 12-15%.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914400"/>
            <a:ext cx="4389120" cy="4389120"/>
          </a:xfrm>
          <a:prstGeom prst="ellipse">
            <a:avLst/>
          </a:prstGeom>
          <a:solidFill>
            <a:srgbClr val="0F1733">
              <a:alpha val="78000"/>
            </a:srgbClr>
          </a:solidFill>
          <a:ln w="12700">
            <a:solidFill>
              <a:srgbClr val="0F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675120" y="1554480"/>
            <a:ext cx="3017520" cy="3017520"/>
          </a:xfrm>
          <a:prstGeom prst="ellipse">
            <a:avLst/>
          </a:prstGeom>
          <a:solidFill>
            <a:srgbClr val="4FC3F7">
              <a:alpha val="30000"/>
            </a:srgbClr>
          </a:solidFill>
          <a:ln w="12700">
            <a:solidFill>
              <a:srgbClr val="4FC3F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Built - End to End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every skill a Business Analyst needs on day one.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10512"/>
            <a:ext cx="5760720" cy="420624"/>
          </a:xfrm>
          <a:prstGeom prst="roundRect">
            <a:avLst>
              <a:gd name="adj" fmla="val 15217"/>
            </a:avLst>
          </a:prstGeom>
          <a:solidFill>
            <a:srgbClr val="26337A"/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5577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20+ SQL queries across 5 complex multi-table datasets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304288"/>
            <a:ext cx="5760720" cy="420624"/>
          </a:xfrm>
          <a:prstGeom prst="roundRect">
            <a:avLst>
              <a:gd name="adj" fmla="val 15217"/>
            </a:avLst>
          </a:prstGeom>
          <a:solidFill>
            <a:srgbClr val="26337A"/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2304288"/>
            <a:ext cx="5577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Python data cleaning + EDA + 2 ML models (Logistic Regression &amp; Decision Tree)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798064"/>
            <a:ext cx="5760720" cy="420624"/>
          </a:xfrm>
          <a:prstGeom prst="roundRect">
            <a:avLst>
              <a:gd name="adj" fmla="val 15217"/>
            </a:avLst>
          </a:prstGeom>
          <a:solidFill>
            <a:srgbClr val="26337A"/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798064"/>
            <a:ext cx="5577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Power BI dashboards with DAX calculated measures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5760720" cy="420624"/>
          </a:xfrm>
          <a:prstGeom prst="roundRect">
            <a:avLst>
              <a:gd name="adj" fmla="val 15217"/>
            </a:avLst>
          </a:prstGeom>
          <a:solidFill>
            <a:srgbClr val="26337A"/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3291840"/>
            <a:ext cx="5577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Tableau interactive dashboard - live on Tableau Public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785616"/>
            <a:ext cx="5760720" cy="420624"/>
          </a:xfrm>
          <a:prstGeom prst="roundRect">
            <a:avLst>
              <a:gd name="adj" fmla="val 15217"/>
            </a:avLst>
          </a:prstGeom>
          <a:solidFill>
            <a:srgbClr val="26337A"/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3785616"/>
            <a:ext cx="5577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 data-backed strategic recommendations with quantified business impact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279392"/>
            <a:ext cx="5760720" cy="420624"/>
          </a:xfrm>
          <a:prstGeom prst="roundRect">
            <a:avLst>
              <a:gd name="adj" fmla="val 15217"/>
            </a:avLst>
          </a:prstGeom>
          <a:solidFill>
            <a:srgbClr val="26337A"/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4279392"/>
            <a:ext cx="5577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BA workflow: raw data → cleaning → analysis → insight → recommendation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681728"/>
            <a:ext cx="5760720" cy="320040"/>
          </a:xfrm>
          <a:prstGeom prst="roundRect">
            <a:avLst>
              <a:gd name="adj" fmla="val 22857"/>
            </a:avLst>
          </a:prstGeom>
          <a:solidFill>
            <a:srgbClr val="26337A"/>
          </a:solidFill>
          <a:ln w="12700">
            <a:solidFill>
              <a:srgbClr val="4FC3F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68172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github.com/ShailanshiGupta   ·   linkedin.com/in/shailanshi-gupta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1336</Words>
  <Application>Microsoft Macintosh PowerPoint</Application>
  <PresentationFormat>On-screen Show (16:9)</PresentationFormat>
  <Paragraphs>169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360° BI: SaaS Company Health Analysis</dc:title>
  <dc:subject>PptxGenJS Presentation</dc:subject>
  <dc:creator>PptxGenJS</dc:creator>
  <cp:lastModifiedBy>Shailanshi Gupta</cp:lastModifiedBy>
  <cp:revision>3</cp:revision>
  <dcterms:created xsi:type="dcterms:W3CDTF">2026-06-17T16:35:46Z</dcterms:created>
  <dcterms:modified xsi:type="dcterms:W3CDTF">2026-06-17T17:09:49Z</dcterms:modified>
</cp:coreProperties>
</file>